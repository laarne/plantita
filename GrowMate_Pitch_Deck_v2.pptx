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4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5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Relationship Id="rId4" Type="http://schemas.openxmlformats.org/officeDocument/2006/relationships/image" Target="../media/image6.png"/><Relationship Id="rId5" Type="http://schemas.openxmlformats.org/officeDocument/2006/relationships/image" Target="../media/image4.png"/><Relationship Id="rId6" Type="http://schemas.openxmlformats.org/officeDocument/2006/relationships/image" Target="../media/image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05840"/>
            <a:ext cx="4206240" cy="4206240"/>
          </a:xfrm>
          <a:prstGeom prst="ellipse">
            <a:avLst/>
          </a:prstGeom>
          <a:solidFill>
            <a:srgbClr val="D9F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4023360" cy="4023360"/>
          </a:xfrm>
          <a:prstGeom prst="ellipse">
            <a:avLst/>
          </a:prstGeom>
          <a:solidFill>
            <a:srgbClr val="FF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023360" cy="4023360"/>
          </a:xfrm>
          <a:prstGeom prst="ellipse">
            <a:avLst/>
          </a:prstGeom>
          <a:solidFill>
            <a:srgbClr val="D9F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wm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47472"/>
            <a:ext cx="310896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3931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03522"/>
                </a:solidFill>
                <a:latin typeface="Arial"/>
              </a:rPr>
              <a:t>GrowMate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39319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25F"/>
                </a:solidFill>
                <a:latin typeface="Arial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914400"/>
            <a:ext cx="6126480" cy="8686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203522"/>
                </a:solidFill>
                <a:latin typeface="Arial"/>
              </a:rPr>
              <a:t>The plant market has a trust gap.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719072"/>
            <a:ext cx="525780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25F"/>
                </a:solidFill>
                <a:latin typeface="Arial"/>
              </a:rPr>
              <a:t>People buy plants online, but listings often lack identity, care, health, and safety context.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2487168"/>
            <a:ext cx="1828800" cy="347472"/>
          </a:xfrm>
          <a:prstGeom prst="round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203522"/>
                </a:solidFill>
                <a:latin typeface="Arial"/>
              </a:rPr>
              <a:t>Hook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2907792"/>
            <a:ext cx="4572000" cy="56692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100" b="1">
                <a:solidFill>
                  <a:srgbClr val="203522"/>
                </a:solidFill>
                <a:latin typeface="Arial"/>
              </a:rPr>
              <a:t>?Who here owns a plant, collects plants, or knows a plantito or plantita??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4160520"/>
            <a:ext cx="187451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6384" y="437083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3522"/>
                </a:solidFill>
                <a:latin typeface="Arial"/>
              </a:rPr>
              <a:t>Plant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6384" y="469087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25F"/>
                </a:solidFill>
                <a:latin typeface="Arial"/>
              </a:rPr>
              <a:t>Is this the correct plant?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770632" y="4160520"/>
            <a:ext cx="187451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35224" y="437083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3522"/>
                </a:solidFill>
                <a:latin typeface="Arial"/>
              </a:rPr>
              <a:t>Care confidence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935224" y="469087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25F"/>
                </a:solidFill>
                <a:latin typeface="Arial"/>
              </a:rPr>
              <a:t>Can I keep it alive?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919472" y="4160520"/>
            <a:ext cx="1874519" cy="1005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4" y="4370832"/>
            <a:ext cx="1554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3522"/>
                </a:solidFill>
                <a:latin typeface="Arial"/>
              </a:rPr>
              <a:t>Selling safety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84064" y="4690872"/>
            <a:ext cx="15087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25F"/>
                </a:solidFill>
                <a:latin typeface="Arial"/>
              </a:rPr>
              <a:t>Is it safe and legal?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315200" y="987552"/>
            <a:ext cx="3840480" cy="5047488"/>
          </a:xfrm>
          <a:prstGeom prst="roundRect">
            <a:avLst/>
          </a:prstGeom>
          <a:solidFill>
            <a:srgbClr val="EEF5E7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orchid-re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1033272"/>
            <a:ext cx="3749040" cy="4956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05840"/>
            <a:ext cx="4206240" cy="4206240"/>
          </a:xfrm>
          <a:prstGeom prst="ellipse">
            <a:avLst/>
          </a:prstGeom>
          <a:solidFill>
            <a:srgbClr val="D9F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4023360" cy="4023360"/>
          </a:xfrm>
          <a:prstGeom prst="ellipse">
            <a:avLst/>
          </a:prstGeom>
          <a:solidFill>
            <a:srgbClr val="FF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023360" cy="4023360"/>
          </a:xfrm>
          <a:prstGeom prst="ellipse">
            <a:avLst/>
          </a:prstGeom>
          <a:solidFill>
            <a:srgbClr val="D9F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wm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47472"/>
            <a:ext cx="310896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3931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03522"/>
                </a:solidFill>
                <a:latin typeface="Arial"/>
              </a:rPr>
              <a:t>GrowMate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39319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25F"/>
                </a:solidFill>
                <a:latin typeface="Arial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68680"/>
            <a:ext cx="5394960" cy="822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203522"/>
                </a:solidFill>
                <a:latin typeface="Arial"/>
              </a:rPr>
              <a:t>GrowMate makes plant selling safer.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27632"/>
            <a:ext cx="4754880" cy="5029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64725F"/>
                </a:solidFill>
                <a:latin typeface="Arial"/>
              </a:rPr>
              <a:t>A mobile marketplace and community app for buyers, sellers, beginners, and plantitos/plantitas.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2450592"/>
            <a:ext cx="12344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3522"/>
                </a:solidFill>
                <a:latin typeface="Arial"/>
              </a:rPr>
              <a:t>Market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057400" y="2496312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25F"/>
                </a:solidFill>
                <a:latin typeface="Arial"/>
              </a:rPr>
              <a:t>buy &amp; sell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58368" y="3108960"/>
            <a:ext cx="1234440" cy="329184"/>
          </a:xfrm>
          <a:prstGeom prst="roundRect">
            <a:avLst/>
          </a:prstGeom>
          <a:solidFill>
            <a:srgbClr val="20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FFFFFF"/>
                </a:solidFill>
                <a:latin typeface="Arial"/>
              </a:rPr>
              <a:t>Leafy AI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57400" y="315468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25F"/>
                </a:solidFill>
                <a:latin typeface="Arial"/>
              </a:rPr>
              <a:t>verify &amp; guide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" y="3767328"/>
            <a:ext cx="12344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3522"/>
                </a:solidFill>
                <a:latin typeface="Arial"/>
              </a:rPr>
              <a:t>Garden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57400" y="3813048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25F"/>
                </a:solidFill>
                <a:latin typeface="Arial"/>
              </a:rPr>
              <a:t>showcase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58368" y="4425696"/>
            <a:ext cx="12344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3522"/>
                </a:solidFill>
                <a:latin typeface="Arial"/>
              </a:rPr>
              <a:t>Feed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57400" y="4471416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25F"/>
                </a:solidFill>
                <a:latin typeface="Arial"/>
              </a:rPr>
              <a:t>ask &amp; share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5084064"/>
            <a:ext cx="1234440" cy="329184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3522"/>
                </a:solidFill>
                <a:latin typeface="Arial"/>
              </a:rPr>
              <a:t>Rankings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57400" y="5129784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64725F"/>
                </a:solidFill>
                <a:latin typeface="Arial"/>
              </a:rPr>
              <a:t>motivate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960120"/>
            <a:ext cx="2148840" cy="4617720"/>
          </a:xfrm>
          <a:prstGeom prst="roundRect">
            <a:avLst/>
          </a:prstGeom>
          <a:solidFill>
            <a:srgbClr val="20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1" name="Picture 20" descr="landing-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051560"/>
            <a:ext cx="1965960" cy="4434840"/>
          </a:xfrm>
          <a:prstGeom prst="rect">
            <a:avLst/>
          </a:prstGeom>
        </p:spPr>
      </p:pic>
      <p:sp>
        <p:nvSpPr>
          <p:cNvPr id="22" name="Rounded Rectangle 21"/>
          <p:cNvSpPr/>
          <p:nvPr/>
        </p:nvSpPr>
        <p:spPr>
          <a:xfrm>
            <a:off x="8549640" y="1417320"/>
            <a:ext cx="1874519" cy="4023360"/>
          </a:xfrm>
          <a:prstGeom prst="roundRect">
            <a:avLst/>
          </a:prstGeom>
          <a:solidFill>
            <a:srgbClr val="20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anding-garde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1508760"/>
            <a:ext cx="1691639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05840"/>
            <a:ext cx="4206240" cy="4206240"/>
          </a:xfrm>
          <a:prstGeom prst="ellipse">
            <a:avLst/>
          </a:prstGeom>
          <a:solidFill>
            <a:srgbClr val="D9F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4023360" cy="4023360"/>
          </a:xfrm>
          <a:prstGeom prst="ellipse">
            <a:avLst/>
          </a:prstGeom>
          <a:solidFill>
            <a:srgbClr val="FF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023360" cy="4023360"/>
          </a:xfrm>
          <a:prstGeom prst="ellipse">
            <a:avLst/>
          </a:prstGeom>
          <a:solidFill>
            <a:srgbClr val="D9F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wm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47472"/>
            <a:ext cx="310896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3931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03522"/>
                </a:solidFill>
                <a:latin typeface="Arial"/>
              </a:rPr>
              <a:t>GrowMate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39319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25F"/>
                </a:solidFill>
                <a:latin typeface="Arial"/>
              </a:rPr>
              <a:t>03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68680"/>
            <a:ext cx="38404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203522"/>
                </a:solidFill>
                <a:latin typeface="Arial"/>
              </a:rPr>
              <a:t>Leafy AI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09344"/>
            <a:ext cx="493776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300" b="1">
                <a:solidFill>
                  <a:srgbClr val="8BC34A"/>
                </a:solidFill>
                <a:latin typeface="Arial"/>
              </a:rPr>
              <a:t>Identify. Verify. Guide.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74320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850392" y="2926080"/>
            <a:ext cx="347472" cy="347472"/>
          </a:xfrm>
          <a:prstGeom prst="round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3522"/>
                </a:solidFill>
                <a:latin typeface="Arial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89304" y="295351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3522"/>
                </a:solidFill>
                <a:latin typeface="Arial"/>
              </a:rPr>
              <a:t>Photo upload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49424" y="296265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03522"/>
                </a:solidFill>
                <a:latin typeface="Arial"/>
              </a:rPr>
              <a:t>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770632" y="274320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2907792" y="2926080"/>
            <a:ext cx="347472" cy="347472"/>
          </a:xfrm>
          <a:prstGeom prst="round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3522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46704" y="295351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3522"/>
                </a:solidFill>
                <a:latin typeface="Arial"/>
              </a:rPr>
              <a:t>Plant ID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06824" y="296265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03522"/>
                </a:solidFill>
                <a:latin typeface="Arial"/>
              </a:rPr>
              <a:t>?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828032" y="274320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965192" y="2926080"/>
            <a:ext cx="347472" cy="347472"/>
          </a:xfrm>
          <a:prstGeom prst="round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3522"/>
                </a:solidFill>
                <a:latin typeface="Arial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04104" y="295351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3522"/>
                </a:solidFill>
                <a:latin typeface="Arial"/>
              </a:rPr>
              <a:t>Safety check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64224" y="2962656"/>
            <a:ext cx="3657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203522"/>
                </a:solidFill>
                <a:latin typeface="Arial"/>
              </a:rPr>
              <a:t>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85432" y="2743200"/>
            <a:ext cx="1417320" cy="914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7022592" y="2926080"/>
            <a:ext cx="347472" cy="347472"/>
          </a:xfrm>
          <a:prstGeom prst="roundRect">
            <a:avLst/>
          </a:prstGeom>
          <a:solidFill>
            <a:srgbClr val="EAF3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3522"/>
                </a:solidFill>
                <a:latin typeface="Arial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61504" y="2953512"/>
            <a:ext cx="685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3522"/>
                </a:solidFill>
                <a:latin typeface="Arial"/>
              </a:rPr>
              <a:t>Listing help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" y="4297680"/>
            <a:ext cx="53035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64725F"/>
                </a:solidFill>
                <a:latin typeface="Arial"/>
              </a:rPr>
              <a:t>AI supports safer posting by suggesting plant name, category, care notes, and risky-listing warnings.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09560" y="987552"/>
            <a:ext cx="2148840" cy="4617720"/>
          </a:xfrm>
          <a:prstGeom prst="roundRect">
            <a:avLst/>
          </a:prstGeom>
          <a:solidFill>
            <a:srgbClr val="20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7" name="Picture 26" descr="landing-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01000" y="1078992"/>
            <a:ext cx="1965960" cy="4434840"/>
          </a:xfrm>
          <a:prstGeom prst="rect">
            <a:avLst/>
          </a:prstGeom>
        </p:spPr>
      </p:pic>
      <p:sp>
        <p:nvSpPr>
          <p:cNvPr id="28" name="Rounded Rectangle 27"/>
          <p:cNvSpPr/>
          <p:nvPr/>
        </p:nvSpPr>
        <p:spPr>
          <a:xfrm>
            <a:off x="6903720" y="5230368"/>
            <a:ext cx="2103120" cy="384048"/>
          </a:xfrm>
          <a:prstGeom prst="roundRect">
            <a:avLst/>
          </a:prstGeom>
          <a:solidFill>
            <a:srgbClr val="D3FF9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203522"/>
                </a:solidFill>
                <a:latin typeface="Arial"/>
              </a:rPr>
              <a:t>Safe to sell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05840"/>
            <a:ext cx="4206240" cy="4206240"/>
          </a:xfrm>
          <a:prstGeom prst="ellipse">
            <a:avLst/>
          </a:prstGeom>
          <a:solidFill>
            <a:srgbClr val="D9F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4023360" cy="4023360"/>
          </a:xfrm>
          <a:prstGeom prst="ellipse">
            <a:avLst/>
          </a:prstGeom>
          <a:solidFill>
            <a:srgbClr val="FF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023360" cy="4023360"/>
          </a:xfrm>
          <a:prstGeom prst="ellipse">
            <a:avLst/>
          </a:prstGeom>
          <a:solidFill>
            <a:srgbClr val="D9F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wm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47472"/>
            <a:ext cx="310896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3931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03522"/>
                </a:solidFill>
                <a:latin typeface="Arial"/>
              </a:rPr>
              <a:t>GrowMate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39319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25F"/>
                </a:solidFill>
                <a:latin typeface="Arial"/>
              </a:rPr>
              <a:t>04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68680"/>
            <a:ext cx="5669280" cy="7315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203522"/>
                </a:solidFill>
                <a:latin typeface="Arial"/>
              </a:rPr>
              <a:t>Who benefits?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27632"/>
            <a:ext cx="438912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64725F"/>
                </a:solidFill>
                <a:latin typeface="Arial"/>
              </a:rPr>
              <a:t>Built for plant beginners, collectors, sellers, and home growers.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606040"/>
            <a:ext cx="21488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78892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03522"/>
                </a:solidFill>
                <a:latin typeface="Arial"/>
              </a:rPr>
              <a:t>Buyers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08152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25F"/>
                </a:solidFill>
                <a:latin typeface="Arial"/>
              </a:rPr>
              <a:t>clearer listings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200400" y="2606040"/>
            <a:ext cx="21488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364992" y="2788920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03522"/>
                </a:solidFill>
                <a:latin typeface="Arial"/>
              </a:rPr>
              <a:t>Sellers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64992" y="3081528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25F"/>
                </a:solidFill>
                <a:latin typeface="Arial"/>
              </a:rPr>
              <a:t>faster posting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85800" y="3776472"/>
            <a:ext cx="21488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392" y="395935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03522"/>
                </a:solidFill>
                <a:latin typeface="Arial"/>
              </a:rPr>
              <a:t>Beginners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392" y="425196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25F"/>
                </a:solidFill>
                <a:latin typeface="Arial"/>
              </a:rPr>
              <a:t>care guidance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3776472"/>
            <a:ext cx="2148840" cy="80467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64992" y="3959352"/>
            <a:ext cx="11430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203522"/>
                </a:solidFill>
                <a:latin typeface="Arial"/>
              </a:rPr>
              <a:t>Communities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364992" y="4251960"/>
            <a:ext cx="1325880" cy="1828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25F"/>
                </a:solidFill>
                <a:latin typeface="Arial"/>
              </a:rPr>
              <a:t>local growth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583680" y="1143000"/>
            <a:ext cx="4023360" cy="4526280"/>
          </a:xfrm>
          <a:prstGeom prst="roundRect">
            <a:avLst/>
          </a:prstGeom>
          <a:solidFill>
            <a:srgbClr val="EEF5E7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pechay-real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29400" y="1188720"/>
            <a:ext cx="3931920" cy="443484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05840"/>
            <a:ext cx="4206240" cy="4206240"/>
          </a:xfrm>
          <a:prstGeom prst="ellipse">
            <a:avLst/>
          </a:prstGeom>
          <a:solidFill>
            <a:srgbClr val="D9F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4023360" cy="4023360"/>
          </a:xfrm>
          <a:prstGeom prst="ellipse">
            <a:avLst/>
          </a:prstGeom>
          <a:solidFill>
            <a:srgbClr val="FF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023360" cy="4023360"/>
          </a:xfrm>
          <a:prstGeom prst="ellipse">
            <a:avLst/>
          </a:prstGeom>
          <a:solidFill>
            <a:srgbClr val="D9F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wm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47472"/>
            <a:ext cx="310896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3931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03522"/>
                </a:solidFill>
                <a:latin typeface="Arial"/>
              </a:rPr>
              <a:t>GrowMate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39319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25F"/>
                </a:solidFill>
                <a:latin typeface="Arial"/>
              </a:rPr>
              <a:t>05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749808"/>
            <a:ext cx="54864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000" b="1">
                <a:solidFill>
                  <a:srgbClr val="203522"/>
                </a:solidFill>
                <a:latin typeface="Arial"/>
              </a:rPr>
              <a:t>Prototype demonstration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41732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64725F"/>
                </a:solidFill>
                <a:latin typeface="Arial"/>
              </a:rPr>
              <a:t>Market ? Feed ? Garden ? Rankings ? Profile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1828800"/>
            <a:ext cx="1691640" cy="3657600"/>
          </a:xfrm>
          <a:prstGeom prst="roundRect">
            <a:avLst/>
          </a:prstGeom>
          <a:solidFill>
            <a:srgbClr val="20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landing-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1920240"/>
            <a:ext cx="1508760" cy="3474720"/>
          </a:xfrm>
          <a:prstGeom prst="rect">
            <a:avLst/>
          </a:prstGeom>
        </p:spPr>
      </p:pic>
      <p:sp>
        <p:nvSpPr>
          <p:cNvPr id="12" name="Rounded Rectangle 11"/>
          <p:cNvSpPr/>
          <p:nvPr/>
        </p:nvSpPr>
        <p:spPr>
          <a:xfrm>
            <a:off x="1106424" y="5687568"/>
            <a:ext cx="102412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3522"/>
                </a:solidFill>
                <a:latin typeface="Arial"/>
              </a:rPr>
              <a:t>Market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566160" y="1828800"/>
            <a:ext cx="1691640" cy="3657600"/>
          </a:xfrm>
          <a:prstGeom prst="roundRect">
            <a:avLst/>
          </a:prstGeom>
          <a:solidFill>
            <a:srgbClr val="20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landing-fe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57600" y="1920240"/>
            <a:ext cx="1508760" cy="3474720"/>
          </a:xfrm>
          <a:prstGeom prst="rect">
            <a:avLst/>
          </a:prstGeom>
        </p:spPr>
      </p:pic>
      <p:sp>
        <p:nvSpPr>
          <p:cNvPr id="15" name="Rounded Rectangle 14"/>
          <p:cNvSpPr/>
          <p:nvPr/>
        </p:nvSpPr>
        <p:spPr>
          <a:xfrm>
            <a:off x="3895344" y="5687568"/>
            <a:ext cx="102412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3522"/>
                </a:solidFill>
                <a:latin typeface="Arial"/>
              </a:rPr>
              <a:t>Feed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355079" y="1828800"/>
            <a:ext cx="1691640" cy="3657600"/>
          </a:xfrm>
          <a:prstGeom prst="roundRect">
            <a:avLst/>
          </a:prstGeom>
          <a:solidFill>
            <a:srgbClr val="20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7" name="Picture 16" descr="landing-garde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19" y="1920240"/>
            <a:ext cx="1508760" cy="3474720"/>
          </a:xfrm>
          <a:prstGeom prst="rect">
            <a:avLst/>
          </a:prstGeom>
        </p:spPr>
      </p:pic>
      <p:sp>
        <p:nvSpPr>
          <p:cNvPr id="18" name="Rounded Rectangle 17"/>
          <p:cNvSpPr/>
          <p:nvPr/>
        </p:nvSpPr>
        <p:spPr>
          <a:xfrm>
            <a:off x="6684264" y="5687568"/>
            <a:ext cx="102412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3522"/>
                </a:solidFill>
                <a:latin typeface="Arial"/>
              </a:rPr>
              <a:t>Garden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43999" y="1828800"/>
            <a:ext cx="1691640" cy="3657600"/>
          </a:xfrm>
          <a:prstGeom prst="roundRect">
            <a:avLst/>
          </a:prstGeom>
          <a:solidFill>
            <a:srgbClr val="20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landing-ranking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35439" y="1920240"/>
            <a:ext cx="1508760" cy="3474720"/>
          </a:xfrm>
          <a:prstGeom prst="rect">
            <a:avLst/>
          </a:prstGeom>
        </p:spPr>
      </p:pic>
      <p:sp>
        <p:nvSpPr>
          <p:cNvPr id="21" name="Rounded Rectangle 20"/>
          <p:cNvSpPr/>
          <p:nvPr/>
        </p:nvSpPr>
        <p:spPr>
          <a:xfrm>
            <a:off x="9473183" y="5687568"/>
            <a:ext cx="1024128" cy="310896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100" b="1">
                <a:solidFill>
                  <a:srgbClr val="203522"/>
                </a:solidFill>
                <a:latin typeface="Arial"/>
              </a:rPr>
              <a:t>Rankings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05840"/>
            <a:ext cx="4206240" cy="4206240"/>
          </a:xfrm>
          <a:prstGeom prst="ellipse">
            <a:avLst/>
          </a:prstGeom>
          <a:solidFill>
            <a:srgbClr val="D9F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4023360" cy="4023360"/>
          </a:xfrm>
          <a:prstGeom prst="ellipse">
            <a:avLst/>
          </a:prstGeom>
          <a:solidFill>
            <a:srgbClr val="FF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023360" cy="4023360"/>
          </a:xfrm>
          <a:prstGeom prst="ellipse">
            <a:avLst/>
          </a:prstGeom>
          <a:solidFill>
            <a:srgbClr val="D9F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wm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47472"/>
            <a:ext cx="310896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3931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03522"/>
                </a:solidFill>
                <a:latin typeface="Arial"/>
              </a:rPr>
              <a:t>GrowMate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39319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25F"/>
                </a:solidFill>
                <a:latin typeface="Arial"/>
              </a:rPr>
              <a:t>06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68680"/>
            <a:ext cx="365760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400" b="1">
                <a:solidFill>
                  <a:srgbClr val="203522"/>
                </a:solidFill>
                <a:latin typeface="Arial"/>
              </a:rPr>
              <a:t>Impact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00200"/>
            <a:ext cx="484632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25F"/>
                </a:solidFill>
                <a:latin typeface="Arial"/>
              </a:rPr>
              <a:t>GrowMate connects safer commerce with sustainable plant communities.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743200"/>
            <a:ext cx="1783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98094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3522"/>
                </a:solidFill>
                <a:latin typeface="Arial"/>
              </a:rPr>
              <a:t>Safer buying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50392" y="329184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25F"/>
                </a:solidFill>
                <a:latin typeface="Arial"/>
              </a:rPr>
              <a:t>clearer listings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788920" y="2743200"/>
            <a:ext cx="1783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953512" y="298094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3522"/>
                </a:solidFill>
                <a:latin typeface="Arial"/>
              </a:rPr>
              <a:t>Better care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53512" y="329184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25F"/>
                </a:solidFill>
                <a:latin typeface="Arial"/>
              </a:rPr>
              <a:t>beginner support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892040" y="2743200"/>
            <a:ext cx="1783080" cy="960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056631" y="2980944"/>
            <a:ext cx="128016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3522"/>
                </a:solidFill>
                <a:latin typeface="Arial"/>
              </a:rPr>
              <a:t>Local growth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56631" y="3291840"/>
            <a:ext cx="118872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64725F"/>
                </a:solidFill>
                <a:latin typeface="Arial"/>
              </a:rPr>
              <a:t>small sellers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85800" y="4645152"/>
            <a:ext cx="841248" cy="329184"/>
          </a:xfrm>
          <a:prstGeom prst="roundRect">
            <a:avLst/>
          </a:prstGeom>
          <a:solidFill>
            <a:srgbClr val="20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3FF91"/>
                </a:solidFill>
                <a:latin typeface="Arial"/>
              </a:rPr>
              <a:t>SDG 11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737360" y="4645152"/>
            <a:ext cx="841248" cy="329184"/>
          </a:xfrm>
          <a:prstGeom prst="roundRect">
            <a:avLst/>
          </a:prstGeom>
          <a:solidFill>
            <a:srgbClr val="20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3FF91"/>
                </a:solidFill>
                <a:latin typeface="Arial"/>
              </a:rPr>
              <a:t>SDG 12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788920" y="4645152"/>
            <a:ext cx="841248" cy="329184"/>
          </a:xfrm>
          <a:prstGeom prst="roundRect">
            <a:avLst/>
          </a:prstGeom>
          <a:solidFill>
            <a:srgbClr val="20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D3FF91"/>
                </a:solidFill>
                <a:latin typeface="Arial"/>
              </a:rPr>
              <a:t>SDG 15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01000" y="960120"/>
            <a:ext cx="2103120" cy="4526280"/>
          </a:xfrm>
          <a:prstGeom prst="roundRect">
            <a:avLst/>
          </a:prstGeom>
          <a:solidFill>
            <a:srgbClr val="2035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anding-gard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92440" y="1051560"/>
            <a:ext cx="1920239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C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-1005840"/>
            <a:ext cx="4206240" cy="4206240"/>
          </a:xfrm>
          <a:prstGeom prst="ellipse">
            <a:avLst/>
          </a:prstGeom>
          <a:solidFill>
            <a:srgbClr val="D9F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692640" y="-914400"/>
            <a:ext cx="4023360" cy="4023360"/>
          </a:xfrm>
          <a:prstGeom prst="ellipse">
            <a:avLst/>
          </a:prstGeom>
          <a:solidFill>
            <a:srgbClr val="FFF4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144000" y="4572000"/>
            <a:ext cx="4023360" cy="4023360"/>
          </a:xfrm>
          <a:prstGeom prst="ellipse">
            <a:avLst/>
          </a:prstGeom>
          <a:solidFill>
            <a:srgbClr val="D9F99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growmate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347472"/>
            <a:ext cx="310896" cy="31089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1248" y="393192"/>
            <a:ext cx="182880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203522"/>
                </a:solidFill>
                <a:latin typeface="Arial"/>
              </a:rPr>
              <a:t>GrowMate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393192"/>
            <a:ext cx="41148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1100" b="1">
                <a:solidFill>
                  <a:srgbClr val="64725F"/>
                </a:solidFill>
                <a:latin typeface="Arial"/>
              </a:rPr>
              <a:t>07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868680"/>
            <a:ext cx="5669280" cy="685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4200" b="1">
                <a:solidFill>
                  <a:srgbClr val="203522"/>
                </a:solidFill>
                <a:latin typeface="Arial"/>
              </a:rPr>
              <a:t>Sustainable growth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600200"/>
            <a:ext cx="502920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0">
                <a:solidFill>
                  <a:srgbClr val="64725F"/>
                </a:solidFill>
                <a:latin typeface="Arial"/>
              </a:rPr>
              <a:t>GrowMate earns only when sellers succeed.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514600"/>
            <a:ext cx="2743200" cy="1143000"/>
          </a:xfrm>
          <a:prstGeom prst="roundRect">
            <a:avLst/>
          </a:prstGeom>
          <a:solidFill>
            <a:srgbClr val="203522"/>
          </a:solidFill>
          <a:ln w="12700">
            <a:solidFill>
              <a:srgbClr val="2035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770632"/>
            <a:ext cx="82296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600" b="1">
                <a:solidFill>
                  <a:srgbClr val="D3FF91"/>
                </a:solidFill>
                <a:latin typeface="Arial"/>
              </a:rPr>
              <a:t>10%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74519" y="2724912"/>
            <a:ext cx="1143000" cy="43891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rial"/>
              </a:rPr>
              <a:t>marketplace fee</a:t>
            </a:r>
            <a:br/>
            <a:r>
              <a:t>when sold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77639" y="2514600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142231" y="267919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03522"/>
                </a:solidFill>
                <a:latin typeface="Arial"/>
              </a:rPr>
              <a:t>Verified sellers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2514600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36792" y="267919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03522"/>
                </a:solidFill>
                <a:latin typeface="Arial"/>
              </a:rPr>
              <a:t>Premium tools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977639" y="3429000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142231" y="359359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03522"/>
                </a:solidFill>
                <a:latin typeface="Arial"/>
              </a:rPr>
              <a:t>Promoted listings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72200" y="3429000"/>
            <a:ext cx="1828800" cy="5303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36792" y="3593592"/>
            <a:ext cx="13716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203522"/>
                </a:solidFill>
                <a:latin typeface="Arial"/>
              </a:rPr>
              <a:t>Local partnerships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5800" y="5212080"/>
            <a:ext cx="530352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600" b="1">
                <a:solidFill>
                  <a:srgbClr val="203522"/>
                </a:solidFill>
                <a:latin typeface="Arial"/>
              </a:rPr>
              <a:t>Grow smart, grow safe, grow great with GrowMate.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89520" y="1828800"/>
            <a:ext cx="3291840" cy="3383280"/>
          </a:xfrm>
          <a:prstGeom prst="roundRect">
            <a:avLst/>
          </a:prstGeom>
          <a:solidFill>
            <a:srgbClr val="EEF5E7"/>
          </a:solidFill>
          <a:ln w="12700">
            <a:solidFill>
              <a:srgbClr val="DDE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3" name="Picture 22" descr="landing-marke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5240" y="1874519"/>
            <a:ext cx="3200400" cy="329184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